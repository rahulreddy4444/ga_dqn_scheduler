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DM Sans" pitchFamily="2" charset="0"/>
      <p:regular r:id="rId24"/>
    </p:embeddedFont>
    <p:embeddedFont>
      <p:font typeface="DM Sans Bold" panose="020B0604020202020204" charset="0"/>
      <p:regular r:id="rId25"/>
    </p:embeddedFont>
    <p:embeddedFont>
      <p:font typeface="Public Sans" panose="020B0604020202020204" charset="0"/>
      <p:regular r:id="rId26"/>
    </p:embeddedFont>
    <p:embeddedFont>
      <p:font typeface="Public Sa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5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0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2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image" Target="../media/image34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6.svg"/><Relationship Id="rId5" Type="http://schemas.openxmlformats.org/officeDocument/2006/relationships/image" Target="../media/image36.svg"/><Relationship Id="rId10" Type="http://schemas.openxmlformats.org/officeDocument/2006/relationships/image" Target="../media/image25.png"/><Relationship Id="rId4" Type="http://schemas.openxmlformats.org/officeDocument/2006/relationships/image" Target="../media/image3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10" Type="http://schemas.openxmlformats.org/officeDocument/2006/relationships/image" Target="../media/image37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10" Type="http://schemas.openxmlformats.org/officeDocument/2006/relationships/image" Target="../media/image38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9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9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10" Type="http://schemas.openxmlformats.org/officeDocument/2006/relationships/image" Target="../media/image39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9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2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40.jpe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41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45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svg"/><Relationship Id="rId3" Type="http://schemas.openxmlformats.org/officeDocument/2006/relationships/image" Target="../media/image32.svg"/><Relationship Id="rId7" Type="http://schemas.openxmlformats.org/officeDocument/2006/relationships/image" Target="../media/image10.svg"/><Relationship Id="rId12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688802" y="7681323"/>
            <a:ext cx="10910396" cy="63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sz="49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4447940"/>
            <a:ext cx="18696944" cy="161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3"/>
              </a:lnSpc>
            </a:pPr>
            <a:r>
              <a:rPr lang="en-US" sz="6273" b="1" spc="-12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Cost-Aware Real-Time Multi-VM Workflow Scheduling in Cloud using Genetic Algorithm​</a:t>
            </a:r>
          </a:p>
        </p:txBody>
      </p:sp>
      <p:sp>
        <p:nvSpPr>
          <p:cNvPr id="18" name="Freeform 18"/>
          <p:cNvSpPr/>
          <p:nvPr/>
        </p:nvSpPr>
        <p:spPr>
          <a:xfrm>
            <a:off x="3326309" y="2239736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110895" y="2045585"/>
            <a:ext cx="10910396" cy="83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3"/>
              </a:lnSpc>
            </a:pPr>
            <a:r>
              <a:rPr lang="en-US" sz="65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Team.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030709" y="1871549"/>
            <a:ext cx="796221" cy="1011074"/>
          </a:xfrm>
          <a:custGeom>
            <a:avLst/>
            <a:gdLst/>
            <a:ahLst/>
            <a:cxnLst/>
            <a:rect l="l" t="t" r="r" b="b"/>
            <a:pathLst>
              <a:path w="796221" h="1011074">
                <a:moveTo>
                  <a:pt x="0" y="0"/>
                </a:moveTo>
                <a:lnTo>
                  <a:pt x="796221" y="0"/>
                </a:lnTo>
                <a:lnTo>
                  <a:pt x="796221" y="1011073"/>
                </a:lnTo>
                <a:lnTo>
                  <a:pt x="0" y="101107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619463" y="3254097"/>
            <a:ext cx="11893260" cy="3971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1. Anurag Choudhary (20223046)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 Abhay Kumar (20223004)​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 Danapana Rahul Reddy (20223078)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4. Akula Sri Subramania Mukesh (20223530)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56185" y="7063895"/>
            <a:ext cx="13219815" cy="86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Under guidance of Dr. Ashish Kumar Maurya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82135" y="2091045"/>
            <a:ext cx="6264366" cy="6104909"/>
          </a:xfrm>
          <a:custGeom>
            <a:avLst/>
            <a:gdLst/>
            <a:ahLst/>
            <a:cxnLst/>
            <a:rect l="l" t="t" r="r" b="b"/>
            <a:pathLst>
              <a:path w="6264366" h="6104909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98621" y="2395845"/>
            <a:ext cx="7848753" cy="103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79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353" y="3930353"/>
            <a:ext cx="10219979" cy="561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352" lvl="1" indent="-410676" algn="l">
              <a:lnSpc>
                <a:spcPts val="5173"/>
              </a:lnSpc>
              <a:buFont typeface="Arial"/>
              <a:buChar char="•"/>
            </a:pPr>
            <a:r>
              <a:rPr lang="en-US" sz="3804" spc="22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Cloud computing enablesdistributed task executionacross heterogeneous VMs.​</a:t>
            </a:r>
          </a:p>
          <a:p>
            <a:pPr marL="821352" lvl="1" indent="-410676" algn="l">
              <a:lnSpc>
                <a:spcPts val="5173"/>
              </a:lnSpc>
              <a:buFont typeface="Arial"/>
              <a:buChar char="•"/>
            </a:pPr>
            <a:r>
              <a:rPr lang="en-US" sz="3804" spc="22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Efficient scheduling reducescost and make-span whilemaintaining QoS.​</a:t>
            </a:r>
          </a:p>
          <a:p>
            <a:pPr marL="821352" lvl="1" indent="-410676" algn="l">
              <a:lnSpc>
                <a:spcPts val="5173"/>
              </a:lnSpc>
              <a:buFont typeface="Arial"/>
              <a:buChar char="•"/>
            </a:pPr>
            <a:r>
              <a:rPr lang="en-US" sz="3804" spc="22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Workflow scheduling is NP-hard problem thus there isneed to find an efficientway to solve this.</a:t>
            </a:r>
          </a:p>
          <a:p>
            <a:pPr algn="l">
              <a:lnSpc>
                <a:spcPts val="3433"/>
              </a:lnSpc>
            </a:pPr>
            <a:endParaRPr lang="en-US" sz="3804" spc="228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92" y="4729312"/>
            <a:ext cx="8491345" cy="1009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0"/>
              </a:lnSpc>
            </a:pPr>
            <a:r>
              <a:rPr lang="en-US" sz="781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MOTIVATION.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41437" y="653879"/>
            <a:ext cx="7881428" cy="2693482"/>
            <a:chOff x="0" y="0"/>
            <a:chExt cx="2638373" cy="9016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38373" cy="901665"/>
            </a:xfrm>
            <a:custGeom>
              <a:avLst/>
              <a:gdLst/>
              <a:ahLst/>
              <a:cxnLst/>
              <a:rect l="l" t="t" r="r" b="b"/>
              <a:pathLst>
                <a:path w="2638373" h="901665">
                  <a:moveTo>
                    <a:pt x="14734" y="0"/>
                  </a:moveTo>
                  <a:lnTo>
                    <a:pt x="2623638" y="0"/>
                  </a:lnTo>
                  <a:cubicBezTo>
                    <a:pt x="2627546" y="0"/>
                    <a:pt x="2631294" y="1552"/>
                    <a:pt x="2634057" y="4316"/>
                  </a:cubicBezTo>
                  <a:cubicBezTo>
                    <a:pt x="2636820" y="7079"/>
                    <a:pt x="2638373" y="10827"/>
                    <a:pt x="2638373" y="14734"/>
                  </a:cubicBezTo>
                  <a:lnTo>
                    <a:pt x="2638373" y="886931"/>
                  </a:lnTo>
                  <a:cubicBezTo>
                    <a:pt x="2638373" y="895068"/>
                    <a:pt x="2631776" y="901665"/>
                    <a:pt x="2623638" y="901665"/>
                  </a:cubicBezTo>
                  <a:lnTo>
                    <a:pt x="14734" y="901665"/>
                  </a:lnTo>
                  <a:cubicBezTo>
                    <a:pt x="6597" y="901665"/>
                    <a:pt x="0" y="895068"/>
                    <a:pt x="0" y="886931"/>
                  </a:cubicBezTo>
                  <a:lnTo>
                    <a:pt x="0" y="14734"/>
                  </a:lnTo>
                  <a:cubicBezTo>
                    <a:pt x="0" y="6597"/>
                    <a:pt x="6597" y="0"/>
                    <a:pt x="1473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638373" cy="815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1437" y="3611378"/>
            <a:ext cx="8032113" cy="2561528"/>
            <a:chOff x="0" y="0"/>
            <a:chExt cx="2688816" cy="8574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8816" cy="857492"/>
            </a:xfrm>
            <a:custGeom>
              <a:avLst/>
              <a:gdLst/>
              <a:ahLst/>
              <a:cxnLst/>
              <a:rect l="l" t="t" r="r" b="b"/>
              <a:pathLst>
                <a:path w="2688816" h="857492">
                  <a:moveTo>
                    <a:pt x="14458" y="0"/>
                  </a:moveTo>
                  <a:lnTo>
                    <a:pt x="2674358" y="0"/>
                  </a:lnTo>
                  <a:cubicBezTo>
                    <a:pt x="2678192" y="0"/>
                    <a:pt x="2681870" y="1523"/>
                    <a:pt x="2684581" y="4235"/>
                  </a:cubicBezTo>
                  <a:cubicBezTo>
                    <a:pt x="2687293" y="6946"/>
                    <a:pt x="2688816" y="10624"/>
                    <a:pt x="2688816" y="14458"/>
                  </a:cubicBezTo>
                  <a:lnTo>
                    <a:pt x="2688816" y="843034"/>
                  </a:lnTo>
                  <a:cubicBezTo>
                    <a:pt x="2688816" y="846869"/>
                    <a:pt x="2687293" y="850546"/>
                    <a:pt x="2684581" y="853258"/>
                  </a:cubicBezTo>
                  <a:cubicBezTo>
                    <a:pt x="2681870" y="855969"/>
                    <a:pt x="2678192" y="857492"/>
                    <a:pt x="2674358" y="857492"/>
                  </a:cubicBezTo>
                  <a:lnTo>
                    <a:pt x="14458" y="857492"/>
                  </a:lnTo>
                  <a:cubicBezTo>
                    <a:pt x="10624" y="857492"/>
                    <a:pt x="6946" y="855969"/>
                    <a:pt x="4235" y="853258"/>
                  </a:cubicBezTo>
                  <a:cubicBezTo>
                    <a:pt x="1523" y="850546"/>
                    <a:pt x="0" y="846869"/>
                    <a:pt x="0" y="843034"/>
                  </a:cubicBezTo>
                  <a:lnTo>
                    <a:pt x="0" y="14458"/>
                  </a:lnTo>
                  <a:cubicBezTo>
                    <a:pt x="0" y="10624"/>
                    <a:pt x="1523" y="6946"/>
                    <a:pt x="4235" y="4235"/>
                  </a:cubicBezTo>
                  <a:cubicBezTo>
                    <a:pt x="6946" y="1523"/>
                    <a:pt x="10624" y="0"/>
                    <a:pt x="1445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2688816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41437" y="6439606"/>
            <a:ext cx="8032113" cy="3289482"/>
            <a:chOff x="0" y="0"/>
            <a:chExt cx="2688816" cy="11011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88816" cy="1101181"/>
            </a:xfrm>
            <a:custGeom>
              <a:avLst/>
              <a:gdLst/>
              <a:ahLst/>
              <a:cxnLst/>
              <a:rect l="l" t="t" r="r" b="b"/>
              <a:pathLst>
                <a:path w="2688816" h="1101181">
                  <a:moveTo>
                    <a:pt x="14458" y="0"/>
                  </a:moveTo>
                  <a:lnTo>
                    <a:pt x="2674358" y="0"/>
                  </a:lnTo>
                  <a:cubicBezTo>
                    <a:pt x="2678192" y="0"/>
                    <a:pt x="2681870" y="1523"/>
                    <a:pt x="2684581" y="4235"/>
                  </a:cubicBezTo>
                  <a:cubicBezTo>
                    <a:pt x="2687293" y="6946"/>
                    <a:pt x="2688816" y="10624"/>
                    <a:pt x="2688816" y="14458"/>
                  </a:cubicBezTo>
                  <a:lnTo>
                    <a:pt x="2688816" y="1086723"/>
                  </a:lnTo>
                  <a:cubicBezTo>
                    <a:pt x="2688816" y="1090557"/>
                    <a:pt x="2687293" y="1094235"/>
                    <a:pt x="2684581" y="1096946"/>
                  </a:cubicBezTo>
                  <a:cubicBezTo>
                    <a:pt x="2681870" y="1099658"/>
                    <a:pt x="2678192" y="1101181"/>
                    <a:pt x="2674358" y="1101181"/>
                  </a:cubicBezTo>
                  <a:lnTo>
                    <a:pt x="14458" y="1101181"/>
                  </a:lnTo>
                  <a:cubicBezTo>
                    <a:pt x="10624" y="1101181"/>
                    <a:pt x="6946" y="1099658"/>
                    <a:pt x="4235" y="1096946"/>
                  </a:cubicBezTo>
                  <a:cubicBezTo>
                    <a:pt x="1523" y="1094235"/>
                    <a:pt x="0" y="1090557"/>
                    <a:pt x="0" y="1086723"/>
                  </a:cubicBezTo>
                  <a:lnTo>
                    <a:pt x="0" y="14458"/>
                  </a:lnTo>
                  <a:cubicBezTo>
                    <a:pt x="0" y="10624"/>
                    <a:pt x="1523" y="6946"/>
                    <a:pt x="4235" y="4235"/>
                  </a:cubicBezTo>
                  <a:cubicBezTo>
                    <a:pt x="6946" y="1523"/>
                    <a:pt x="10624" y="0"/>
                    <a:pt x="1445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2688816" cy="1015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67260" y="7708335"/>
            <a:ext cx="1578952" cy="103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6616170"/>
            <a:ext cx="7678865" cy="325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  <a:spcBef>
                <a:spcPct val="0"/>
              </a:spcBef>
            </a:pPr>
            <a:r>
              <a:rPr lang="en-US" sz="3199" spc="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RT-GA integ</a:t>
            </a:r>
            <a:r>
              <a:rPr lang="en-US" sz="3199" u="none" spc="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rates VMstate(waiting time) into GAfor a scheduler that givesresult in real-time along withparallelism at VM level andcore level .​</a:t>
            </a:r>
          </a:p>
          <a:p>
            <a:pPr algn="l">
              <a:lnSpc>
                <a:spcPts val="4319"/>
              </a:lnSpc>
              <a:spcBef>
                <a:spcPct val="0"/>
              </a:spcBef>
            </a:pPr>
            <a:endParaRPr lang="en-US" sz="3199" u="none" spc="5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7467260" y="4692712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260" y="1673586"/>
            <a:ext cx="1578952" cy="103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3974048"/>
            <a:ext cx="7302694" cy="175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6"/>
              </a:lnSpc>
              <a:spcBef>
                <a:spcPct val="0"/>
              </a:spcBef>
            </a:pPr>
            <a:r>
              <a:rPr lang="en-US" sz="3471" spc="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wo</a:t>
            </a:r>
            <a:r>
              <a:rPr lang="en-US" sz="3471" u="none" spc="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rkloads requirelightweight, adaptivescheduling algorithm.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0804" y="1151815"/>
            <a:ext cx="7302694" cy="175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6"/>
              </a:lnSpc>
              <a:spcBef>
                <a:spcPct val="0"/>
              </a:spcBef>
            </a:pPr>
            <a:r>
              <a:rPr lang="en-US" sz="3471" spc="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Latest </a:t>
            </a:r>
            <a:r>
              <a:rPr lang="en-US" sz="3471" u="none" spc="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schedulers like GA-DQN has parallelism at corelevel but not at VM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4147" y="6794037"/>
            <a:ext cx="13069055" cy="2006372"/>
          </a:xfrm>
          <a:custGeom>
            <a:avLst/>
            <a:gdLst/>
            <a:ahLst/>
            <a:cxnLst/>
            <a:rect l="l" t="t" r="r" b="b"/>
            <a:pathLst>
              <a:path w="13069055" h="2006372">
                <a:moveTo>
                  <a:pt x="0" y="0"/>
                </a:moveTo>
                <a:lnTo>
                  <a:pt x="13069056" y="0"/>
                </a:lnTo>
                <a:lnTo>
                  <a:pt x="13069056" y="2006371"/>
                </a:lnTo>
                <a:lnTo>
                  <a:pt x="0" y="2006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55" t="-21180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828800" y="3225011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33980" y="1566263"/>
            <a:ext cx="6820039" cy="103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79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Related work.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8546" y="3584256"/>
            <a:ext cx="5990804" cy="243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5957" lvl="1" indent="-497978" algn="l">
              <a:lnSpc>
                <a:spcPts val="6458"/>
              </a:lnSpc>
              <a:buAutoNum type="arabicPeriod"/>
            </a:pPr>
            <a:r>
              <a:rPr lang="en-US" sz="46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HEFT – Static heuristic,efficient but not adaptive.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85881" y="6968584"/>
            <a:ext cx="10545474" cy="157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 GA-DQN – Combines GAand DRL but incurs heavytraining cost.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88675" y="3201022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796013" y="3560267"/>
            <a:ext cx="5990804" cy="243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8"/>
              </a:lnSpc>
            </a:pPr>
            <a:r>
              <a:rPr lang="en-US" sz="46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 GA – Strong global search, but high time complexity.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78075" y="1267971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857087" y="1879538"/>
            <a:ext cx="5956731" cy="6527925"/>
          </a:xfrm>
          <a:custGeom>
            <a:avLst/>
            <a:gdLst/>
            <a:ahLst/>
            <a:cxnLst/>
            <a:rect l="l" t="t" r="r" b="b"/>
            <a:pathLst>
              <a:path w="5956731" h="6527925">
                <a:moveTo>
                  <a:pt x="0" y="0"/>
                </a:moveTo>
                <a:lnTo>
                  <a:pt x="5956731" y="0"/>
                </a:lnTo>
                <a:lnTo>
                  <a:pt x="5956731" y="6527924"/>
                </a:lnTo>
                <a:lnTo>
                  <a:pt x="0" y="6527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21763" y="1769824"/>
            <a:ext cx="8092094" cy="211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8"/>
              </a:lnSpc>
            </a:pPr>
            <a:r>
              <a:rPr lang="en-US" sz="8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  <a:p>
            <a:pPr algn="l">
              <a:lnSpc>
                <a:spcPts val="8148"/>
              </a:lnSpc>
            </a:pPr>
            <a:r>
              <a:rPr lang="en-US" sz="8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Statement.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504" y="3948803"/>
            <a:ext cx="8448289" cy="515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7663" lvl="1" indent="-378832" algn="l">
              <a:lnSpc>
                <a:spcPts val="4737"/>
              </a:lnSpc>
              <a:buAutoNum type="arabicPeriod"/>
            </a:pPr>
            <a:r>
              <a:rPr lang="en-US" sz="3509" spc="21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Existing GA-DQN allocates whole workflows to single VMs — limiting parallelism.​</a:t>
            </a:r>
          </a:p>
          <a:p>
            <a:pPr marL="757663" lvl="1" indent="-378832" algn="l">
              <a:lnSpc>
                <a:spcPts val="4737"/>
              </a:lnSpc>
              <a:buAutoNum type="arabicPeriod"/>
            </a:pPr>
            <a:r>
              <a:rPr lang="en-US" sz="3509" spc="21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Dynamic VM load and waiting times are ignored by static GA.​</a:t>
            </a:r>
          </a:p>
          <a:p>
            <a:pPr marL="757663" lvl="1" indent="-378832" algn="l">
              <a:lnSpc>
                <a:spcPts val="4737"/>
              </a:lnSpc>
              <a:buAutoNum type="arabicPeriod"/>
            </a:pPr>
            <a:r>
              <a:rPr lang="en-US" sz="3509" spc="21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Goal: Design a scheduler that adapts in real-time with multi-VM allocation.</a:t>
            </a:r>
          </a:p>
          <a:p>
            <a:pPr algn="l">
              <a:lnSpc>
                <a:spcPts val="2707"/>
              </a:lnSpc>
            </a:pPr>
            <a:endParaRPr lang="en-US" sz="3509" spc="21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3388052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-504685">
            <a:off x="6571568" y="-1282815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388052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4685">
            <a:off x="6532002" y="-1894382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2841073" y="1470963"/>
            <a:ext cx="12145566" cy="7708899"/>
          </a:xfrm>
          <a:custGeom>
            <a:avLst/>
            <a:gdLst/>
            <a:ahLst/>
            <a:cxnLst/>
            <a:rect l="l" t="t" r="r" b="b"/>
            <a:pathLst>
              <a:path w="12145566" h="7708899">
                <a:moveTo>
                  <a:pt x="0" y="0"/>
                </a:moveTo>
                <a:lnTo>
                  <a:pt x="12145566" y="0"/>
                </a:lnTo>
                <a:lnTo>
                  <a:pt x="12145566" y="7708899"/>
                </a:lnTo>
                <a:lnTo>
                  <a:pt x="0" y="7708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051" r="-1514" b="-589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388052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4685">
            <a:off x="6532002" y="-1894382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28700" y="2799167"/>
            <a:ext cx="16230600" cy="5033908"/>
          </a:xfrm>
          <a:custGeom>
            <a:avLst/>
            <a:gdLst/>
            <a:ahLst/>
            <a:cxnLst/>
            <a:rect l="l" t="t" r="r" b="b"/>
            <a:pathLst>
              <a:path w="16230600" h="5033908">
                <a:moveTo>
                  <a:pt x="0" y="0"/>
                </a:moveTo>
                <a:lnTo>
                  <a:pt x="16230600" y="0"/>
                </a:lnTo>
                <a:lnTo>
                  <a:pt x="16230600" y="5033908"/>
                </a:lnTo>
                <a:lnTo>
                  <a:pt x="0" y="5033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06" r="-3806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4450735" y="889329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028700" y="4690109"/>
            <a:ext cx="6009055" cy="108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3"/>
              </a:lnSpc>
            </a:pPr>
            <a:r>
              <a:rPr lang="en-US" sz="83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2284" y="2254796"/>
            <a:ext cx="10865716" cy="660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465" lvl="1" indent="-487232" algn="l">
              <a:lnSpc>
                <a:spcPts val="6093"/>
              </a:lnSpc>
              <a:buAutoNum type="arabicPeriod"/>
            </a:pPr>
            <a:r>
              <a:rPr lang="en-US" sz="4513" spc="2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Integrate VM state into GA fitness function.</a:t>
            </a:r>
          </a:p>
          <a:p>
            <a:pPr marL="974465" lvl="1" indent="-487232" algn="l">
              <a:lnSpc>
                <a:spcPts val="6093"/>
              </a:lnSpc>
              <a:buAutoNum type="arabicPeriod"/>
            </a:pPr>
            <a:r>
              <a:rPr lang="en-US" sz="4513" spc="2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Enable fine-grained task distribution across multiple VMs.</a:t>
            </a:r>
          </a:p>
          <a:p>
            <a:pPr marL="974465" lvl="1" indent="-487232" algn="l">
              <a:lnSpc>
                <a:spcPts val="6093"/>
              </a:lnSpc>
              <a:buAutoNum type="arabicPeriod"/>
            </a:pPr>
            <a:r>
              <a:rPr lang="en-US" sz="4513" spc="27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Reduce execution cost and make-span while maintaining low computation overhead.</a:t>
            </a:r>
          </a:p>
          <a:p>
            <a:pPr algn="l">
              <a:lnSpc>
                <a:spcPts val="3482"/>
              </a:lnSpc>
            </a:pPr>
            <a:endParaRPr lang="en-US" sz="4513" spc="27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4450735" y="889329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028700" y="1764531"/>
            <a:ext cx="7512560" cy="21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23"/>
              </a:lnSpc>
            </a:pPr>
            <a:r>
              <a:rPr lang="en-US" sz="8374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078" y="4362176"/>
            <a:ext cx="15069265" cy="397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1673" lvl="1" indent="-505837" algn="l">
              <a:lnSpc>
                <a:spcPts val="6325"/>
              </a:lnSpc>
              <a:buAutoNum type="arabicPeriod"/>
            </a:pPr>
            <a:r>
              <a:rPr lang="en-US" sz="4685" spc="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Workflow Input Module – parses task DAGs.</a:t>
            </a:r>
          </a:p>
          <a:p>
            <a:pPr marL="1011673" lvl="1" indent="-505837" algn="l">
              <a:lnSpc>
                <a:spcPts val="6325"/>
              </a:lnSpc>
              <a:buAutoNum type="arabicPeriod"/>
            </a:pPr>
            <a:r>
              <a:rPr lang="en-US" sz="4685" spc="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RT-GA Scheduler – population evolution and fitness updates.</a:t>
            </a:r>
          </a:p>
          <a:p>
            <a:pPr marL="1011673" lvl="1" indent="-505837" algn="l">
              <a:lnSpc>
                <a:spcPts val="6325"/>
              </a:lnSpc>
              <a:buAutoNum type="arabicPeriod"/>
            </a:pPr>
            <a:r>
              <a:rPr lang="en-US" sz="4685" spc="2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Cloud Infrastructure – executes tasks Consists of VM each having multiple cores.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86214" y="1933690"/>
            <a:ext cx="3743613" cy="1552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(Three -layer </a:t>
            </a:r>
          </a:p>
          <a:p>
            <a:pPr algn="r">
              <a:lnSpc>
                <a:spcPts val="6299"/>
              </a:lnSpc>
            </a:pPr>
            <a:r>
              <a:rPr lang="en-US" sz="4499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Design)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4809326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4685">
            <a:off x="6532002" y="-1894382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2987253" y="1300812"/>
            <a:ext cx="12313494" cy="8082043"/>
          </a:xfrm>
          <a:custGeom>
            <a:avLst/>
            <a:gdLst/>
            <a:ahLst/>
            <a:cxnLst/>
            <a:rect l="l" t="t" r="r" b="b"/>
            <a:pathLst>
              <a:path w="12313494" h="8082043">
                <a:moveTo>
                  <a:pt x="0" y="0"/>
                </a:moveTo>
                <a:lnTo>
                  <a:pt x="12313494" y="0"/>
                </a:lnTo>
                <a:lnTo>
                  <a:pt x="12313494" y="8082042"/>
                </a:lnTo>
                <a:lnTo>
                  <a:pt x="0" y="8082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85" b="-785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349427" y="506269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5930165" y="4823914"/>
            <a:ext cx="502056" cy="506376"/>
            <a:chOff x="0" y="0"/>
            <a:chExt cx="812800" cy="8197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9794"/>
            </a:xfrm>
            <a:custGeom>
              <a:avLst/>
              <a:gdLst/>
              <a:ahLst/>
              <a:cxnLst/>
              <a:rect l="l" t="t" r="r" b="b"/>
              <a:pathLst>
                <a:path w="812800" h="819794">
                  <a:moveTo>
                    <a:pt x="406400" y="0"/>
                  </a:moveTo>
                  <a:lnTo>
                    <a:pt x="535715" y="279469"/>
                  </a:lnTo>
                  <a:lnTo>
                    <a:pt x="812800" y="409897"/>
                  </a:lnTo>
                  <a:lnTo>
                    <a:pt x="535715" y="540325"/>
                  </a:lnTo>
                  <a:lnTo>
                    <a:pt x="406400" y="819794"/>
                  </a:lnTo>
                  <a:lnTo>
                    <a:pt x="277085" y="540325"/>
                  </a:lnTo>
                  <a:lnTo>
                    <a:pt x="0" y="409897"/>
                  </a:lnTo>
                  <a:lnTo>
                    <a:pt x="277085" y="27946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90500" y="220714"/>
              <a:ext cx="431800" cy="40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27066" y="4823914"/>
            <a:ext cx="502056" cy="506376"/>
            <a:chOff x="0" y="0"/>
            <a:chExt cx="812800" cy="8197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9794"/>
            </a:xfrm>
            <a:custGeom>
              <a:avLst/>
              <a:gdLst/>
              <a:ahLst/>
              <a:cxnLst/>
              <a:rect l="l" t="t" r="r" b="b"/>
              <a:pathLst>
                <a:path w="812800" h="819794">
                  <a:moveTo>
                    <a:pt x="406400" y="0"/>
                  </a:moveTo>
                  <a:lnTo>
                    <a:pt x="535715" y="279469"/>
                  </a:lnTo>
                  <a:lnTo>
                    <a:pt x="812800" y="409897"/>
                  </a:lnTo>
                  <a:lnTo>
                    <a:pt x="535715" y="540325"/>
                  </a:lnTo>
                  <a:lnTo>
                    <a:pt x="406400" y="819794"/>
                  </a:lnTo>
                  <a:lnTo>
                    <a:pt x="277085" y="540325"/>
                  </a:lnTo>
                  <a:lnTo>
                    <a:pt x="0" y="409897"/>
                  </a:lnTo>
                  <a:lnTo>
                    <a:pt x="277085" y="27946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0500" y="220714"/>
              <a:ext cx="431800" cy="40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53627" y="4823914"/>
            <a:ext cx="502056" cy="506376"/>
            <a:chOff x="0" y="0"/>
            <a:chExt cx="812800" cy="8197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9794"/>
            </a:xfrm>
            <a:custGeom>
              <a:avLst/>
              <a:gdLst/>
              <a:ahLst/>
              <a:cxnLst/>
              <a:rect l="l" t="t" r="r" b="b"/>
              <a:pathLst>
                <a:path w="812800" h="819794">
                  <a:moveTo>
                    <a:pt x="406400" y="0"/>
                  </a:moveTo>
                  <a:lnTo>
                    <a:pt x="535715" y="279469"/>
                  </a:lnTo>
                  <a:lnTo>
                    <a:pt x="812800" y="409897"/>
                  </a:lnTo>
                  <a:lnTo>
                    <a:pt x="535715" y="540325"/>
                  </a:lnTo>
                  <a:lnTo>
                    <a:pt x="406400" y="819794"/>
                  </a:lnTo>
                  <a:lnTo>
                    <a:pt x="277085" y="540325"/>
                  </a:lnTo>
                  <a:lnTo>
                    <a:pt x="0" y="409897"/>
                  </a:lnTo>
                  <a:lnTo>
                    <a:pt x="277085" y="27946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500" y="220714"/>
              <a:ext cx="431800" cy="40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96139" y="4823914"/>
            <a:ext cx="502056" cy="506376"/>
            <a:chOff x="0" y="0"/>
            <a:chExt cx="812800" cy="8197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9794"/>
            </a:xfrm>
            <a:custGeom>
              <a:avLst/>
              <a:gdLst/>
              <a:ahLst/>
              <a:cxnLst/>
              <a:rect l="l" t="t" r="r" b="b"/>
              <a:pathLst>
                <a:path w="812800" h="819794">
                  <a:moveTo>
                    <a:pt x="406400" y="0"/>
                  </a:moveTo>
                  <a:lnTo>
                    <a:pt x="535715" y="279469"/>
                  </a:lnTo>
                  <a:lnTo>
                    <a:pt x="812800" y="409897"/>
                  </a:lnTo>
                  <a:lnTo>
                    <a:pt x="535715" y="540325"/>
                  </a:lnTo>
                  <a:lnTo>
                    <a:pt x="406400" y="819794"/>
                  </a:lnTo>
                  <a:lnTo>
                    <a:pt x="277085" y="540325"/>
                  </a:lnTo>
                  <a:lnTo>
                    <a:pt x="0" y="409897"/>
                  </a:lnTo>
                  <a:lnTo>
                    <a:pt x="277085" y="27946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500" y="220714"/>
              <a:ext cx="431800" cy="406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32501" y="1248317"/>
            <a:ext cx="8822997" cy="18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275"/>
              </a:lnSpc>
              <a:spcBef>
                <a:spcPct val="0"/>
              </a:spcBef>
            </a:pPr>
            <a:r>
              <a:rPr lang="en-US" sz="7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RTGA Framework Modules.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7066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48468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38137" y="6495516"/>
            <a:ext cx="4222991" cy="223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8"/>
              </a:lnSpc>
            </a:pPr>
            <a:r>
              <a:rPr lang="en-US" sz="28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Randomly allocate VM cores to workflow subtask taking care of the dependencies (topo sort).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71930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14442" y="561604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1" name="Freeform 21"/>
          <p:cNvSpPr/>
          <p:nvPr/>
        </p:nvSpPr>
        <p:spPr>
          <a:xfrm>
            <a:off x="-1824268" y="9258300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>
            <a:off x="9020045" y="-3380187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5400000">
            <a:off x="4437659" y="-202801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3550312" y="94806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TextBox 29"/>
          <p:cNvSpPr txBox="1"/>
          <p:nvPr/>
        </p:nvSpPr>
        <p:spPr>
          <a:xfrm>
            <a:off x="12102662" y="3433863"/>
            <a:ext cx="2771646" cy="1180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Population 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Initialization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40784" y="3433863"/>
            <a:ext cx="3265016" cy="1180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Fitness 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03909" y="3433863"/>
            <a:ext cx="2097665" cy="118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Feedback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40784" y="6485991"/>
            <a:ext cx="3024940" cy="228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8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uses make-span , cost, communication cost to calculate fitness.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1911" y="3433863"/>
            <a:ext cx="2112367" cy="118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Genetic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Operators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5625" y="6485991"/>
            <a:ext cx="3024940" cy="91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8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crossover and mutation.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43214" y="6485991"/>
            <a:ext cx="3024940" cy="136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8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updates VM states dynamically.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4809326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4685">
            <a:off x="6532002" y="-1894382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4056331" y="1727744"/>
            <a:ext cx="8822997" cy="97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275"/>
              </a:lnSpc>
              <a:spcBef>
                <a:spcPct val="0"/>
              </a:spcBef>
            </a:pPr>
            <a:r>
              <a:rPr lang="en-US" sz="75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RT-GA Algorithm​.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556" y="3315363"/>
            <a:ext cx="6211713" cy="1348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Gather real-time VM stats.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3261262"/>
            <a:ext cx="6768526" cy="1348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Initialize population by randomly allocating cores.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304" y="5168705"/>
            <a:ext cx="6768526" cy="203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Simulate execution and compute make span and cost.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5168705"/>
            <a:ext cx="6768526" cy="203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Evolve population via selection, crossover, mutation.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96261" y="7708016"/>
            <a:ext cx="6768526" cy="66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Return the best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4147" y="6794037"/>
            <a:ext cx="13069055" cy="2006372"/>
          </a:xfrm>
          <a:custGeom>
            <a:avLst/>
            <a:gdLst/>
            <a:ahLst/>
            <a:cxnLst/>
            <a:rect l="l" t="t" r="r" b="b"/>
            <a:pathLst>
              <a:path w="13069055" h="2006372">
                <a:moveTo>
                  <a:pt x="0" y="0"/>
                </a:moveTo>
                <a:lnTo>
                  <a:pt x="13069056" y="0"/>
                </a:lnTo>
                <a:lnTo>
                  <a:pt x="13069056" y="2006371"/>
                </a:lnTo>
                <a:lnTo>
                  <a:pt x="0" y="2006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55" t="-21180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828800" y="3225011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60348" y="1287723"/>
            <a:ext cx="10167304" cy="154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6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Chromosome Encoding &amp;Fitness.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8546" y="3584256"/>
            <a:ext cx="5990804" cy="243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5957" lvl="1" indent="-497978" algn="l">
              <a:lnSpc>
                <a:spcPts val="6458"/>
              </a:lnSpc>
              <a:buAutoNum type="arabicPeriod"/>
            </a:pPr>
            <a:r>
              <a:rPr lang="en-US" sz="46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Chromosome encodes task-to-VM-core mapping.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85881" y="6968584"/>
            <a:ext cx="10545474" cy="157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 Adaptive mutation based on VM congestion.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88675" y="3201022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796013" y="3569792"/>
            <a:ext cx="6127190" cy="225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1"/>
              </a:lnSpc>
            </a:pPr>
            <a:r>
              <a:rPr lang="en-US" sz="42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 Fitness Function: F = α·T_makespan + β·C_total + γ·D_comm.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4136549" y="1214144"/>
            <a:ext cx="9860499" cy="7983727"/>
          </a:xfrm>
          <a:custGeom>
            <a:avLst/>
            <a:gdLst/>
            <a:ahLst/>
            <a:cxnLst/>
            <a:rect l="l" t="t" r="r" b="b"/>
            <a:pathLst>
              <a:path w="9860499" h="7983727">
                <a:moveTo>
                  <a:pt x="0" y="0"/>
                </a:moveTo>
                <a:lnTo>
                  <a:pt x="9860499" y="0"/>
                </a:lnTo>
                <a:lnTo>
                  <a:pt x="9860499" y="7983727"/>
                </a:lnTo>
                <a:lnTo>
                  <a:pt x="0" y="79837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80812" y="1362846"/>
            <a:ext cx="1693844" cy="156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848652" y="2867751"/>
            <a:ext cx="6025003" cy="4551498"/>
          </a:xfrm>
          <a:custGeom>
            <a:avLst/>
            <a:gdLst/>
            <a:ahLst/>
            <a:cxnLst/>
            <a:rect l="l" t="t" r="r" b="b"/>
            <a:pathLst>
              <a:path w="6025003" h="4551498">
                <a:moveTo>
                  <a:pt x="0" y="0"/>
                </a:moveTo>
                <a:lnTo>
                  <a:pt x="6025003" y="0"/>
                </a:lnTo>
                <a:lnTo>
                  <a:pt x="6025003" y="4551498"/>
                </a:lnTo>
                <a:lnTo>
                  <a:pt x="0" y="455149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r="-29902" b="-190698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82142" y="1881125"/>
            <a:ext cx="6638782" cy="7136858"/>
          </a:xfrm>
          <a:custGeom>
            <a:avLst/>
            <a:gdLst/>
            <a:ahLst/>
            <a:cxnLst/>
            <a:rect l="l" t="t" r="r" b="b"/>
            <a:pathLst>
              <a:path w="6638782" h="7136858">
                <a:moveTo>
                  <a:pt x="0" y="0"/>
                </a:moveTo>
                <a:lnTo>
                  <a:pt x="6638782" y="0"/>
                </a:lnTo>
                <a:lnTo>
                  <a:pt x="6638782" y="7136858"/>
                </a:lnTo>
                <a:lnTo>
                  <a:pt x="0" y="713685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t="-55549" b="-1705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00644" y="-1189055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3"/>
                </a:lnTo>
                <a:lnTo>
                  <a:pt x="0" y="306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197051" y="8407462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896649" y="938285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4809326" y="8752704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504685">
            <a:off x="6532002" y="-1894382"/>
            <a:ext cx="4097044" cy="2878174"/>
          </a:xfrm>
          <a:custGeom>
            <a:avLst/>
            <a:gdLst/>
            <a:ahLst/>
            <a:cxnLst/>
            <a:rect l="l" t="t" r="r" b="b"/>
            <a:pathLst>
              <a:path w="4097044" h="2878174">
                <a:moveTo>
                  <a:pt x="0" y="0"/>
                </a:moveTo>
                <a:lnTo>
                  <a:pt x="4097044" y="0"/>
                </a:lnTo>
                <a:lnTo>
                  <a:pt x="4097044" y="2878174"/>
                </a:lnTo>
                <a:lnTo>
                  <a:pt x="0" y="2878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6813818" y="-855622"/>
            <a:ext cx="4208573" cy="4247184"/>
          </a:xfrm>
          <a:custGeom>
            <a:avLst/>
            <a:gdLst/>
            <a:ahLst/>
            <a:cxnLst/>
            <a:rect l="l" t="t" r="r" b="b"/>
            <a:pathLst>
              <a:path w="4208573" h="4247184">
                <a:moveTo>
                  <a:pt x="0" y="0"/>
                </a:moveTo>
                <a:lnTo>
                  <a:pt x="4208574" y="0"/>
                </a:lnTo>
                <a:lnTo>
                  <a:pt x="4208574" y="4247185"/>
                </a:lnTo>
                <a:lnTo>
                  <a:pt x="0" y="424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4502358" y="1255059"/>
            <a:ext cx="8822997" cy="1766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sz="7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RT-GA Algorithm​</a:t>
            </a:r>
          </a:p>
          <a:p>
            <a:pPr marL="0" lvl="1" indent="0" algn="ctr">
              <a:lnSpc>
                <a:spcPts val="6790"/>
              </a:lnSpc>
              <a:spcBef>
                <a:spcPct val="0"/>
              </a:spcBef>
            </a:pPr>
            <a:r>
              <a:rPr lang="en-US" sz="7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Summary.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556" y="3315363"/>
            <a:ext cx="6211713" cy="272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ctr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Input workflow DAG and VM state i.e. waiting time .​</a:t>
            </a:r>
          </a:p>
          <a:p>
            <a:pPr algn="ctr">
              <a:lnSpc>
                <a:spcPts val="5459"/>
              </a:lnSpc>
            </a:pPr>
            <a:endParaRPr lang="en-US" sz="3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0" y="3261262"/>
            <a:ext cx="6768526" cy="203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Initialize population (random + heuristic).​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5556" y="5749730"/>
            <a:ext cx="6768526" cy="203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Evaluate fitness via simulation.​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0" y="5749730"/>
            <a:ext cx="6768526" cy="203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7" lvl="1" indent="-421003" algn="l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Perform selection, crossover, mutation.​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196261" y="7946141"/>
            <a:ext cx="6768526" cy="66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Return the best schedule.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8005" y="414631"/>
            <a:ext cx="5587239" cy="3828159"/>
            <a:chOff x="0" y="0"/>
            <a:chExt cx="2065940" cy="14155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940" cy="1415502"/>
            </a:xfrm>
            <a:custGeom>
              <a:avLst/>
              <a:gdLst/>
              <a:ahLst/>
              <a:cxnLst/>
              <a:rect l="l" t="t" r="r" b="b"/>
              <a:pathLst>
                <a:path w="2065940" h="1415502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394717"/>
                  </a:lnTo>
                  <a:cubicBezTo>
                    <a:pt x="2065940" y="1406196"/>
                    <a:pt x="2056635" y="1415502"/>
                    <a:pt x="2045156" y="1415502"/>
                  </a:cubicBezTo>
                  <a:lnTo>
                    <a:pt x="20785" y="1415502"/>
                  </a:lnTo>
                  <a:cubicBezTo>
                    <a:pt x="9306" y="1415502"/>
                    <a:pt x="0" y="1406196"/>
                    <a:pt x="0" y="1394717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5940" cy="1453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700000">
            <a:off x="7520724" y="3565460"/>
            <a:ext cx="3135260" cy="3164024"/>
          </a:xfrm>
          <a:custGeom>
            <a:avLst/>
            <a:gdLst/>
            <a:ahLst/>
            <a:cxnLst/>
            <a:rect l="l" t="t" r="r" b="b"/>
            <a:pathLst>
              <a:path w="3135260" h="3164024">
                <a:moveTo>
                  <a:pt x="0" y="0"/>
                </a:moveTo>
                <a:lnTo>
                  <a:pt x="3135260" y="0"/>
                </a:lnTo>
                <a:lnTo>
                  <a:pt x="3135260" y="3164024"/>
                </a:lnTo>
                <a:lnTo>
                  <a:pt x="0" y="3164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 rot="-7900054">
            <a:off x="7497523" y="3119175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700000">
            <a:off x="9982257" y="3496348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209977">
            <a:off x="10017119" y="7147145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866361">
            <a:off x="7499773" y="6426654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004014" y="6832162"/>
            <a:ext cx="2776696" cy="2426138"/>
          </a:xfrm>
          <a:custGeom>
            <a:avLst/>
            <a:gdLst/>
            <a:ahLst/>
            <a:cxnLst/>
            <a:rect l="l" t="t" r="r" b="b"/>
            <a:pathLst>
              <a:path w="2776696" h="2426138">
                <a:moveTo>
                  <a:pt x="0" y="0"/>
                </a:moveTo>
                <a:lnTo>
                  <a:pt x="2776696" y="0"/>
                </a:lnTo>
                <a:lnTo>
                  <a:pt x="2776696" y="2426138"/>
                </a:lnTo>
                <a:lnTo>
                  <a:pt x="0" y="2426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43492" y="4707563"/>
            <a:ext cx="5801017" cy="104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776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Discussion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08005" y="6046162"/>
            <a:ext cx="5587239" cy="3819373"/>
            <a:chOff x="0" y="0"/>
            <a:chExt cx="2065940" cy="1412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65940" cy="1412253"/>
            </a:xfrm>
            <a:custGeom>
              <a:avLst/>
              <a:gdLst/>
              <a:ahLst/>
              <a:cxnLst/>
              <a:rect l="l" t="t" r="r" b="b"/>
              <a:pathLst>
                <a:path w="2065940" h="1412253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391469"/>
                  </a:lnTo>
                  <a:cubicBezTo>
                    <a:pt x="2065940" y="1402948"/>
                    <a:pt x="2056635" y="1412253"/>
                    <a:pt x="2045156" y="1412253"/>
                  </a:cubicBezTo>
                  <a:lnTo>
                    <a:pt x="20785" y="1412253"/>
                  </a:lnTo>
                  <a:cubicBezTo>
                    <a:pt x="9306" y="1412253"/>
                    <a:pt x="0" y="1402948"/>
                    <a:pt x="0" y="1391469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65940" cy="1450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72061" y="6122932"/>
            <a:ext cx="5587239" cy="3742603"/>
            <a:chOff x="0" y="0"/>
            <a:chExt cx="2065940" cy="13838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65940" cy="1383867"/>
            </a:xfrm>
            <a:custGeom>
              <a:avLst/>
              <a:gdLst/>
              <a:ahLst/>
              <a:cxnLst/>
              <a:rect l="l" t="t" r="r" b="b"/>
              <a:pathLst>
                <a:path w="2065940" h="1383867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363082"/>
                  </a:lnTo>
                  <a:cubicBezTo>
                    <a:pt x="2065940" y="1374561"/>
                    <a:pt x="2056635" y="1383867"/>
                    <a:pt x="2045156" y="1383867"/>
                  </a:cubicBezTo>
                  <a:lnTo>
                    <a:pt x="20785" y="1383867"/>
                  </a:lnTo>
                  <a:cubicBezTo>
                    <a:pt x="9306" y="1383867"/>
                    <a:pt x="0" y="1374561"/>
                    <a:pt x="0" y="1363082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65940" cy="1421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73756" y="567031"/>
            <a:ext cx="5587239" cy="3675759"/>
            <a:chOff x="0" y="0"/>
            <a:chExt cx="2065940" cy="13591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5940" cy="1359150"/>
            </a:xfrm>
            <a:custGeom>
              <a:avLst/>
              <a:gdLst/>
              <a:ahLst/>
              <a:cxnLst/>
              <a:rect l="l" t="t" r="r" b="b"/>
              <a:pathLst>
                <a:path w="2065940" h="1359150">
                  <a:moveTo>
                    <a:pt x="20785" y="0"/>
                  </a:moveTo>
                  <a:lnTo>
                    <a:pt x="2045156" y="0"/>
                  </a:lnTo>
                  <a:cubicBezTo>
                    <a:pt x="2056635" y="0"/>
                    <a:pt x="2065940" y="9306"/>
                    <a:pt x="2065940" y="20785"/>
                  </a:cubicBezTo>
                  <a:lnTo>
                    <a:pt x="2065940" y="1338366"/>
                  </a:lnTo>
                  <a:cubicBezTo>
                    <a:pt x="2065940" y="1349845"/>
                    <a:pt x="2056635" y="1359150"/>
                    <a:pt x="2045156" y="1359150"/>
                  </a:cubicBezTo>
                  <a:lnTo>
                    <a:pt x="20785" y="1359150"/>
                  </a:lnTo>
                  <a:cubicBezTo>
                    <a:pt x="9306" y="1359150"/>
                    <a:pt x="0" y="1349845"/>
                    <a:pt x="0" y="1338366"/>
                  </a:cubicBezTo>
                  <a:lnTo>
                    <a:pt x="0" y="20785"/>
                  </a:lnTo>
                  <a:cubicBezTo>
                    <a:pt x="0" y="9306"/>
                    <a:pt x="9306" y="0"/>
                    <a:pt x="20785" y="0"/>
                  </a:cubicBezTo>
                  <a:close/>
                </a:path>
              </a:pathLst>
            </a:custGeom>
            <a:solidFill>
              <a:srgbClr val="8AB7E2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65940" cy="1397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98603" y="828857"/>
            <a:ext cx="4606044" cy="291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148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RT-GA efficiently adapts to runtime workload changes.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8603" y="6443407"/>
            <a:ext cx="4962618" cy="291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148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scheduler allows inter-VM resource allocation to workflow.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79647" y="1224481"/>
            <a:ext cx="4772068" cy="227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7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Eliminates need for DRL training overhead.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81341" y="6433882"/>
            <a:ext cx="4772068" cy="303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4297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Suitable for dynamic and real-time cloud environments.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6770" y="6874438"/>
            <a:ext cx="14147385" cy="2171918"/>
          </a:xfrm>
          <a:custGeom>
            <a:avLst/>
            <a:gdLst/>
            <a:ahLst/>
            <a:cxnLst/>
            <a:rect l="l" t="t" r="r" b="b"/>
            <a:pathLst>
              <a:path w="14147385" h="2171918">
                <a:moveTo>
                  <a:pt x="0" y="0"/>
                </a:moveTo>
                <a:lnTo>
                  <a:pt x="14147385" y="0"/>
                </a:lnTo>
                <a:lnTo>
                  <a:pt x="14147385" y="2171918"/>
                </a:lnTo>
                <a:lnTo>
                  <a:pt x="0" y="2171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55" t="-21180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828800" y="3225011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60348" y="1620781"/>
            <a:ext cx="10167304" cy="91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7"/>
              </a:lnSpc>
            </a:pPr>
            <a:r>
              <a:rPr lang="en-US" sz="71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36138" y="3377863"/>
            <a:ext cx="5990804" cy="286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8010" lvl="1" indent="-444005" algn="l">
              <a:lnSpc>
                <a:spcPts val="5758"/>
              </a:lnSpc>
              <a:buAutoNum type="arabicPeriod"/>
            </a:pPr>
            <a:r>
              <a:rPr lang="en-US" sz="41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Proposed RT-GA integrates feedback-driven adaptation into GA.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77432" y="7107988"/>
            <a:ext cx="12933137" cy="160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458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3. Future Work: Extend RT-GA to fog/edge environments and hybrid multi-agent learning.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88675" y="3201022"/>
            <a:ext cx="6805480" cy="3249377"/>
          </a:xfrm>
          <a:custGeom>
            <a:avLst/>
            <a:gdLst/>
            <a:ahLst/>
            <a:cxnLst/>
            <a:rect l="l" t="t" r="r" b="b"/>
            <a:pathLst>
              <a:path w="6805480" h="3249377">
                <a:moveTo>
                  <a:pt x="0" y="0"/>
                </a:moveTo>
                <a:lnTo>
                  <a:pt x="6805480" y="0"/>
                </a:lnTo>
                <a:lnTo>
                  <a:pt x="6805480" y="3249377"/>
                </a:lnTo>
                <a:lnTo>
                  <a:pt x="0" y="3249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796013" y="3569792"/>
            <a:ext cx="6127190" cy="225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1"/>
              </a:lnSpc>
            </a:pPr>
            <a:r>
              <a:rPr lang="en-US" sz="427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2. Improves makespan, cost, and utilization in multi-VM environments.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0324" y="2893986"/>
            <a:ext cx="13487351" cy="4927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52"/>
              </a:lnSpc>
            </a:pPr>
            <a:r>
              <a:rPr lang="en-US" sz="19538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 you.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571</Words>
  <Application>Microsoft Office PowerPoint</Application>
  <PresentationFormat>Custom</PresentationFormat>
  <Paragraphs>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Canva Sans</vt:lpstr>
      <vt:lpstr>Canva Sans Bold</vt:lpstr>
      <vt:lpstr>DM Sans</vt:lpstr>
      <vt:lpstr>Public Sans</vt:lpstr>
      <vt:lpstr>Public Sans Bold</vt:lpstr>
      <vt:lpstr>Calibri</vt:lpstr>
      <vt:lpstr>DM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Brief Deck</dc:title>
  <cp:lastModifiedBy>rahul reddy</cp:lastModifiedBy>
  <cp:revision>2</cp:revision>
  <dcterms:created xsi:type="dcterms:W3CDTF">2006-08-16T00:00:00Z</dcterms:created>
  <dcterms:modified xsi:type="dcterms:W3CDTF">2025-11-12T19:25:37Z</dcterms:modified>
  <dc:identifier>DAG4gKOYYAI</dc:identifier>
</cp:coreProperties>
</file>